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3" autoAdjust="0"/>
    <p:restoredTop sz="94694" autoAdjust="0"/>
  </p:normalViewPr>
  <p:slideViewPr>
    <p:cSldViewPr snapToGrid="0" snapToObjects="1">
      <p:cViewPr varScale="1">
        <p:scale>
          <a:sx n="161" d="100"/>
          <a:sy n="161" d="100"/>
        </p:scale>
        <p:origin x="560" y="200"/>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3" Type="http://schemas.openxmlformats.org/officeDocument/2006/relationships/viewProps" Target="viewProps.xml" /><Relationship Id="rId12" Type="http://schemas.openxmlformats.org/officeDocument/2006/relationships/presProps" Target="presProps.xml" /><Relationship Id="rId1" Type="http://schemas.openxmlformats.org/officeDocument/2006/relationships/slideMaster" Target="slideMasters/slideMaster1.xml" /><Relationship Id="rId15" Type="http://schemas.openxmlformats.org/officeDocument/2006/relationships/tableStyles" Target="tableStyles.xml" /><Relationship Id="rId14"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342900" indent="-342900" algn="l" defTabSz="342900" rtl="0" eaLnBrk="1" latinLnBrk="0" hangingPunct="1">
        <a:spcBef>
          <a:spcPct val="20000"/>
        </a:spcBef>
        <a:buFont typeface="Arial"/>
        <a:buChar char="•"/>
        <a:defRPr sz="2400" kern="1200">
          <a:solidFill>
            <a:schemeClr val="tx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tx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tx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Lab 2: Sorting Under Real-World Constraints</a:t>
            </a:r>
          </a:p>
        </p:txBody>
      </p:sp>
      <p:sp>
        <p:nvSpPr>
          <p:cNvPr id="3" name="Subtitle 2"/>
          <p:cNvSpPr>
            <a:spLocks noGrp="1"/>
          </p:cNvSpPr>
          <p:nvPr>
            <p:ph type="subTitle" idx="1"/>
          </p:nvPr>
        </p:nvSpPr>
        <p:spPr>
          <a:xfrm>
            <a:off x="1371600" y="2914650"/>
            <a:ext cx="6400800" cy="1314450"/>
          </a:xfrm>
        </p:spPr>
        <p:txBody>
          <a:bodyPr/>
          <a:lstStyle/>
          <a:p>
            <a:pPr lvl="0" indent="0" marL="0">
              <a:buNone/>
            </a:pPr>
            <a:r>
              <a:rPr/>
              <a:t>Nigel Tavaguta (R236699C)</a:t>
            </a:r>
          </a:p>
        </p:txBody>
      </p:sp>
      <p:sp>
        <p:nvSpPr>
          <p:cNvPr id="4" name="Date Placeholder 3"/>
          <p:cNvSpPr>
            <a:spLocks noGrp="1"/>
          </p:cNvSpPr>
          <p:nvPr>
            <p:ph type="dt" sz="half" idx="10"/>
          </p:nvPr>
        </p:nvSpPr>
        <p:spPr/>
        <p:txBody>
          <a:bodyPr/>
          <a:lstStyle/>
          <a:p>
            <a:pPr lvl="0" indent="0" marL="0">
              <a:buNone/>
            </a:pPr>
            <a:r>
              <a:rPr/>
              <a:t>Design and Analysis of Algorithms</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workload</a:t>
            </a:r>
          </a:p>
        </p:txBody>
      </p:sp>
      <p:sp>
        <p:nvSpPr>
          <p:cNvPr id="3" name="Content Placeholder 2"/>
          <p:cNvSpPr>
            <a:spLocks noGrp="1"/>
          </p:cNvSpPr>
          <p:nvPr>
            <p:ph idx="1"/>
          </p:nvPr>
        </p:nvSpPr>
        <p:spPr/>
        <p:txBody>
          <a:bodyPr/>
          <a:lstStyle/>
          <a:p>
            <a:pPr lvl="0"/>
            <a:r>
              <a:rPr/>
              <a:t>100 million transaction records per day</a:t>
            </a:r>
          </a:p>
          <a:p>
            <a:pPr lvl="0"/>
            <a:r>
              <a:rPr/>
              <a:t>Sort by timestamp, amount, then merchant</a:t>
            </a:r>
          </a:p>
          <a:p>
            <a:pPr lvl="0"/>
            <a:r>
              <a:rPr/>
              <a:t>Memory limit: 512 MB</a:t>
            </a:r>
          </a:p>
          <a:p>
            <a:pPr lvl="0"/>
            <a:r>
              <a:rPr/>
              <a:t>Input is often partly sorted</a:t>
            </a:r>
          </a:p>
          <a:p>
            <a:pPr lvl="0"/>
            <a:r>
              <a:rPr/>
              <a:t>Need stable behavior and protection from adversarial inputs</a:t>
            </a:r>
          </a:p>
          <a:p>
            <a:pPr lvl="0" indent="0" marL="0">
              <a:buNone/>
            </a:pPr>
            <a:r>
              <a:rPr b="1"/>
              <a:t>Question:</a:t>
            </a:r>
            <a:r>
              <a:rPr/>
              <a:t> Which sorting design gives good performance without a quadratic worst case or exceeding memory?</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Algorithms compared</a:t>
            </a:r>
          </a:p>
        </p:txBody>
      </p:sp>
      <p:graphicFrame>
        <p:nvGraphicFramePr>
          <p:cNvPr id="6" name="Content Placeholder 5"/>
          <p:cNvGraphicFramePr>
            <a:graphicFrameLocks noGrp="1"/>
          </p:cNvGraphicFramePr>
          <p:nvPr>
            <p:ph idx="1"/>
          </p:nvPr>
        </p:nvGraphicFramePr>
        <p:xfrm>
          <a:off x="457200" y="1193800"/>
          <a:ext cx="8229600" cy="2413000"/>
        </p:xfrm>
        <a:graphic>
          <a:graphicData uri="http://schemas.openxmlformats.org/drawingml/2006/table">
            <a:tbl>
              <a:tblPr firstRow="1" bandRow="1">
                <a:tableStyleId>{5C22544A-7EE6-4342-B048-85BDC9FD1C3A}</a:tableStyleId>
              </a:tblPr>
              <a:tblGrid>
                <a:gridCol w="1651000"/>
                <a:gridCol w="1651000"/>
                <a:gridCol w="1651000"/>
                <a:gridCol w="1651000"/>
                <a:gridCol w="1651000"/>
              </a:tblGrid>
              <a:tr h="0">
                <a:tc>
                  <a:txBody>
                    <a:bodyPr/>
                    <a:lstStyle/>
                    <a:p>
                      <a:pPr lvl="0" indent="0" marL="0">
                        <a:buNone/>
                      </a:pPr>
                      <a:r>
                        <a:rPr/>
                        <a:t>Algorithm</a:t>
                      </a:r>
                    </a:p>
                  </a:txBody>
                  <a:tcPr/>
                </a:tc>
                <a:tc>
                  <a:txBody>
                    <a:bodyPr/>
                    <a:lstStyle/>
                    <a:p>
                      <a:pPr lvl="0" indent="0" marL="0">
                        <a:buNone/>
                      </a:pPr>
                      <a:r>
                        <a:rPr/>
                        <a:t>Worst time</a:t>
                      </a:r>
                    </a:p>
                  </a:txBody>
                  <a:tcPr/>
                </a:tc>
                <a:tc>
                  <a:txBody>
                    <a:bodyPr/>
                    <a:lstStyle/>
                    <a:p>
                      <a:pPr lvl="0" indent="0" marL="0">
                        <a:buNone/>
                      </a:pPr>
                      <a:r>
                        <a:rPr/>
                        <a:t>Extra space</a:t>
                      </a:r>
                    </a:p>
                  </a:txBody>
                  <a:tcPr/>
                </a:tc>
                <a:tc>
                  <a:txBody>
                    <a:bodyPr/>
                    <a:lstStyle/>
                    <a:p>
                      <a:pPr lvl="0" indent="0" marL="0">
                        <a:buNone/>
                      </a:pPr>
                      <a:r>
                        <a:rPr/>
                        <a:t>Stable</a:t>
                      </a:r>
                    </a:p>
                  </a:txBody>
                  <a:tcPr/>
                </a:tc>
                <a:tc>
                  <a:txBody>
                    <a:bodyPr/>
                    <a:lstStyle/>
                    <a:p>
                      <a:pPr lvl="0" indent="0" marL="0">
                        <a:buNone/>
                      </a:pPr>
                      <a:r>
                        <a:rPr/>
                        <a:t>Adaptive</a:t>
                      </a:r>
                    </a:p>
                  </a:txBody>
                  <a:tcPr/>
                </a:tc>
              </a:tr>
              <a:tr h="0">
                <a:tc>
                  <a:txBody>
                    <a:bodyPr/>
                    <a:lstStyle/>
                    <a:p>
                      <a:pPr lvl="0" indent="0" marL="0">
                        <a:buNone/>
                      </a:pPr>
                      <a:r>
                        <a:rPr/>
                        <a:t>Merge sort</a:t>
                      </a:r>
                    </a:p>
                  </a:txBody>
                </a:tc>
                <a:tc>
                  <a:txBody>
                    <a:bodyPr/>
                    <a:lstStyle/>
                    <a:p>
                      <a:pPr lvl="0" indent="0" marL="0">
                        <a:buNone/>
                      </a:pPr>
                      <a:r>
                        <a:rPr/>
                        <a:t>O(n log n)</a:t>
                      </a:r>
                    </a:p>
                  </a:txBody>
                </a:tc>
                <a:tc>
                  <a:txBody>
                    <a:bodyPr/>
                    <a:lstStyle/>
                    <a:p>
                      <a:pPr lvl="0" indent="0" marL="0">
                        <a:buNone/>
                      </a:pPr>
                      <a:r>
                        <a:rPr/>
                        <a:t>O(n)</a:t>
                      </a:r>
                    </a:p>
                  </a:txBody>
                </a:tc>
                <a:tc>
                  <a:txBody>
                    <a:bodyPr/>
                    <a:lstStyle/>
                    <a:p>
                      <a:pPr lvl="0" indent="0" marL="0">
                        <a:buNone/>
                      </a:pPr>
                      <a:r>
                        <a:rPr/>
                        <a:t>Yes</a:t>
                      </a:r>
                    </a:p>
                  </a:txBody>
                </a:tc>
                <a:tc>
                  <a:txBody>
                    <a:bodyPr/>
                    <a:lstStyle/>
                    <a:p>
                      <a:pPr lvl="0" indent="0" marL="0">
                        <a:buNone/>
                      </a:pPr>
                      <a:r>
                        <a:rPr/>
                        <a:t>No</a:t>
                      </a:r>
                    </a:p>
                  </a:txBody>
                </a:tc>
              </a:tr>
              <a:tr h="0">
                <a:tc>
                  <a:txBody>
                    <a:bodyPr/>
                    <a:lstStyle/>
                    <a:p>
                      <a:pPr lvl="0" indent="0" marL="0">
                        <a:buNone/>
                      </a:pPr>
                      <a:r>
                        <a:rPr/>
                        <a:t>Lomuto / Hoare quicksort</a:t>
                      </a:r>
                    </a:p>
                  </a:txBody>
                </a:tc>
                <a:tc>
                  <a:txBody>
                    <a:bodyPr/>
                    <a:lstStyle/>
                    <a:p>
                      <a:pPr lvl="0" indent="0" marL="0">
                        <a:buNone/>
                      </a:pPr>
                      <a:r>
                        <a:rPr/>
                        <a:t>O(n²)</a:t>
                      </a:r>
                    </a:p>
                  </a:txBody>
                </a:tc>
                <a:tc>
                  <a:txBody>
                    <a:bodyPr/>
                    <a:lstStyle/>
                    <a:p>
                      <a:pPr lvl="0" indent="0" marL="0">
                        <a:buNone/>
                      </a:pPr>
                      <a:r>
                        <a:rPr/>
                        <a:t>O(log n) typical</a:t>
                      </a:r>
                    </a:p>
                  </a:txBody>
                </a:tc>
                <a:tc>
                  <a:txBody>
                    <a:bodyPr/>
                    <a:lstStyle/>
                    <a:p>
                      <a:pPr lvl="0" indent="0" marL="0">
                        <a:buNone/>
                      </a:pPr>
                      <a:r>
                        <a:rPr/>
                        <a:t>No</a:t>
                      </a:r>
                    </a:p>
                  </a:txBody>
                </a:tc>
                <a:tc>
                  <a:txBody>
                    <a:bodyPr/>
                    <a:lstStyle/>
                    <a:p>
                      <a:pPr lvl="0" indent="0" marL="0">
                        <a:buNone/>
                      </a:pPr>
                      <a:r>
                        <a:rPr/>
                        <a:t>No</a:t>
                      </a:r>
                    </a:p>
                  </a:txBody>
                </a:tc>
              </a:tr>
              <a:tr h="0">
                <a:tc>
                  <a:txBody>
                    <a:bodyPr/>
                    <a:lstStyle/>
                    <a:p>
                      <a:pPr lvl="0" indent="0" marL="0">
                        <a:buNone/>
                      </a:pPr>
                      <a:r>
                        <a:rPr/>
                        <a:t>Heapsort</a:t>
                      </a:r>
                    </a:p>
                  </a:txBody>
                </a:tc>
                <a:tc>
                  <a:txBody>
                    <a:bodyPr/>
                    <a:lstStyle/>
                    <a:p>
                      <a:pPr lvl="0" indent="0" marL="0">
                        <a:buNone/>
                      </a:pPr>
                      <a:r>
                        <a:rPr/>
                        <a:t>O(n log n)</a:t>
                      </a:r>
                    </a:p>
                  </a:txBody>
                </a:tc>
                <a:tc>
                  <a:txBody>
                    <a:bodyPr/>
                    <a:lstStyle/>
                    <a:p>
                      <a:pPr lvl="0" indent="0" marL="0">
                        <a:buNone/>
                      </a:pPr>
                      <a:r>
                        <a:rPr/>
                        <a:t>O(1)</a:t>
                      </a:r>
                    </a:p>
                  </a:txBody>
                </a:tc>
                <a:tc>
                  <a:txBody>
                    <a:bodyPr/>
                    <a:lstStyle/>
                    <a:p>
                      <a:pPr lvl="0" indent="0" marL="0">
                        <a:buNone/>
                      </a:pPr>
                      <a:r>
                        <a:rPr/>
                        <a:t>No</a:t>
                      </a:r>
                    </a:p>
                  </a:txBody>
                </a:tc>
                <a:tc>
                  <a:txBody>
                    <a:bodyPr/>
                    <a:lstStyle/>
                    <a:p>
                      <a:pPr lvl="0" indent="0" marL="0">
                        <a:buNone/>
                      </a:pPr>
                      <a:r>
                        <a:rPr/>
                        <a:t>No</a:t>
                      </a:r>
                    </a:p>
                  </a:txBody>
                </a:tc>
              </a:tr>
              <a:tr h="0">
                <a:tc>
                  <a:txBody>
                    <a:bodyPr/>
                    <a:lstStyle/>
                    <a:p>
                      <a:pPr lvl="0" indent="0" marL="0">
                        <a:buNone/>
                      </a:pPr>
                      <a:r>
                        <a:rPr/>
                        <a:t>Built-in Timsort</a:t>
                      </a:r>
                    </a:p>
                  </a:txBody>
                </a:tc>
                <a:tc>
                  <a:txBody>
                    <a:bodyPr/>
                    <a:lstStyle/>
                    <a:p>
                      <a:pPr lvl="0" indent="0" marL="0">
                        <a:buNone/>
                      </a:pPr>
                      <a:r>
                        <a:rPr/>
                        <a:t>O(n log n)</a:t>
                      </a:r>
                    </a:p>
                  </a:txBody>
                </a:tc>
                <a:tc>
                  <a:txBody>
                    <a:bodyPr/>
                    <a:lstStyle/>
                    <a:p>
                      <a:pPr lvl="0" indent="0" marL="0">
                        <a:buNone/>
                      </a:pPr>
                      <a:r>
                        <a:rPr/>
                        <a:t>O(n)</a:t>
                      </a:r>
                    </a:p>
                  </a:txBody>
                </a:tc>
                <a:tc>
                  <a:txBody>
                    <a:bodyPr/>
                    <a:lstStyle/>
                    <a:p>
                      <a:pPr lvl="0" indent="0" marL="0">
                        <a:buNone/>
                      </a:pPr>
                      <a:r>
                        <a:rPr/>
                        <a:t>Yes</a:t>
                      </a:r>
                    </a:p>
                  </a:txBody>
                </a:tc>
                <a:tc>
                  <a:txBody>
                    <a:bodyPr/>
                    <a:lstStyle/>
                    <a:p>
                      <a:pPr lvl="0" indent="0" marL="0">
                        <a:buNone/>
                      </a:pPr>
                      <a:r>
                        <a:rPr/>
                        <a:t>Yes</a:t>
                      </a:r>
                    </a:p>
                  </a:txBody>
                </a:tc>
              </a:tr>
              <a:tr h="0">
                <a:tc>
                  <a:txBody>
                    <a:bodyPr/>
                    <a:lstStyle/>
                    <a:p>
                      <a:pPr lvl="0" indent="0" marL="0">
                        <a:buNone/>
                      </a:pPr>
                      <a:r>
                        <a:rPr/>
                        <a:t>Timsort-style / hybrid</a:t>
                      </a:r>
                    </a:p>
                  </a:txBody>
                </a:tc>
                <a:tc>
                  <a:txBody>
                    <a:bodyPr/>
                    <a:lstStyle/>
                    <a:p>
                      <a:pPr lvl="0" indent="0" marL="0">
                        <a:buNone/>
                      </a:pPr>
                      <a:r>
                        <a:rPr/>
                        <a:t>O(n log n)</a:t>
                      </a:r>
                    </a:p>
                  </a:txBody>
                </a:tc>
                <a:tc>
                  <a:txBody>
                    <a:bodyPr/>
                    <a:lstStyle/>
                    <a:p>
                      <a:pPr lvl="0" indent="0" marL="0">
                        <a:buNone/>
                      </a:pPr>
                      <a:r>
                        <a:rPr/>
                        <a:t>O(n) merge path</a:t>
                      </a:r>
                    </a:p>
                  </a:txBody>
                </a:tc>
                <a:tc>
                  <a:txBody>
                    <a:bodyPr/>
                    <a:lstStyle/>
                    <a:p>
                      <a:pPr lvl="0" indent="0" marL="0">
                        <a:buNone/>
                      </a:pPr>
                      <a:r>
                        <a:rPr/>
                        <a:t>Merge path</a:t>
                      </a:r>
                    </a:p>
                  </a:txBody>
                </a:tc>
                <a:tc>
                  <a:txBody>
                    <a:bodyPr/>
                    <a:lstStyle/>
                    <a:p>
                      <a:pPr lvl="0" indent="0" marL="0">
                        <a:buNone/>
                      </a:pPr>
                      <a:r>
                        <a:rPr/>
                        <a:t>Yes</a:t>
                      </a:r>
                    </a:p>
                  </a:txBody>
                </a:tc>
              </a:tr>
            </a:tbl>
          </a:graphicData>
        </a:graphic>
      </p:graphicFrame>
      <p:sp>
        <p:nvSpPr>
          <p:cNvPr id="3" name="Content Placeholder 2"/>
          <p:cNvSpPr>
            <a:spLocks noGrp="1"/>
          </p:cNvSpPr>
          <p:nvPr>
            <p:ph idx="1"/>
          </p:nvPr>
        </p:nvSpPr>
        <p:spPr>
          <a:xfrm>
            <a:off x="457200" y="3733800"/>
            <a:ext cx="8229600" cy="723900"/>
          </a:xfrm>
        </p:spPr>
        <p:txBody>
          <a:bodyPr/>
          <a:lstStyle/>
          <a:p>
            <a:pPr lvl="0" indent="0" marL="0">
              <a:buNone/>
            </a:pPr>
            <a:r>
              <a:rPr/>
              <a:t>The benchmark also includes an in-place median-of-medians quicksort as a deterministic pivot defense.</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Hybrid design</a:t>
            </a:r>
          </a:p>
        </p:txBody>
      </p:sp>
      <p:sp>
        <p:nvSpPr>
          <p:cNvPr id="3" name="Content Placeholder 2"/>
          <p:cNvSpPr>
            <a:spLocks noGrp="1"/>
          </p:cNvSpPr>
          <p:nvPr>
            <p:ph idx="1"/>
          </p:nvPr>
        </p:nvSpPr>
        <p:spPr/>
        <p:txBody>
          <a:bodyPr/>
          <a:lstStyle/>
          <a:p>
            <a:pPr lvl="0" indent="-342900" marL="342900">
              <a:buAutoNum type="arabicPeriod"/>
            </a:pPr>
            <a:r>
              <a:rPr/>
              <a:t>Scan for ascending and descending natural runs.</a:t>
            </a:r>
          </a:p>
          <a:p>
            <a:pPr lvl="0" indent="-342900" marL="342900">
              <a:buAutoNum type="arabicPeriod"/>
            </a:pPr>
            <a:r>
              <a:rPr/>
              <a:t>Reverse strictly descending runs.</a:t>
            </a:r>
          </a:p>
          <a:p>
            <a:pPr lvl="0" indent="-342900" marL="342900">
              <a:buAutoNum type="arabicPeriod"/>
            </a:pPr>
            <a:r>
              <a:rPr/>
              <a:t>Return after a single run, or merge neighboring runs in linear passes.</a:t>
            </a:r>
          </a:p>
          <a:p>
            <a:pPr lvl="0" indent="-342900" marL="342900">
              <a:buAutoNum type="arabicPeriod"/>
            </a:pPr>
            <a:r>
              <a:rPr/>
              <a:t>If runs are highly fragmented, use introsort.</a:t>
            </a:r>
          </a:p>
          <a:p>
            <a:pPr lvl="0" indent="-342900" marL="342900">
              <a:buAutoNum type="arabicPeriod"/>
            </a:pPr>
            <a:r>
              <a:rPr/>
              <a:t>In introsort, use insertion sort for short ranges and heapsort after the depth limit.</a:t>
            </a:r>
          </a:p>
          <a:p>
            <a:pPr lvl="0" indent="0" marL="0">
              <a:buNone/>
            </a:pPr>
            <a:r>
              <a:rPr/>
              <a:t>This exploits existing order while bounding worst-case work by O(n log n).</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Adversarial quicksort</a:t>
            </a:r>
          </a:p>
        </p:txBody>
      </p:sp>
      <p:sp>
        <p:nvSpPr>
          <p:cNvPr id="4" name="Text Placeholder 3"/>
          <p:cNvSpPr>
            <a:spLocks noGrp="1"/>
          </p:cNvSpPr>
          <p:nvPr>
            <p:ph type="body" sz="half" idx="2"/>
          </p:nvPr>
        </p:nvSpPr>
        <p:spPr/>
        <p:txBody>
          <a:bodyPr/>
          <a:lstStyle/>
          <a:p>
            <a:pPr lvl="0"/>
            <a:r>
              <a:rPr/>
              <a:t>Lomuto chooses the last record as pivot.</a:t>
            </a:r>
          </a:p>
          <a:p>
            <a:pPr lvl="0"/>
            <a:r>
              <a:rPr/>
              <a:t>On sorted or reverse-sorted input, it can split into sizes 0 and n−1.</a:t>
            </a:r>
          </a:p>
          <a:p>
            <a:pPr lvl="0"/>
            <a:r>
              <a:rPr/>
              <a:t>Recurrence: Q(n) = Q(n−1) + Θ(n) = Θ(n²).</a:t>
            </a:r>
          </a:p>
          <a:p>
            <a:pPr lvl="0"/>
            <a:r>
              <a:rPr/>
              <a:t>At n = 5,000: 12,497,500 key comparisons.</a:t>
            </a:r>
          </a:p>
          <a:p>
            <a:pPr lvl="0"/>
            <a:r>
              <a:rPr/>
              <a:t>Median-of-medians guarantees a constant-fraction split; introsort uses a heap fallback.</a:t>
            </a:r>
          </a:p>
        </p:txBody>
      </p:sp>
      <p:pic>
        <p:nvPicPr>
          <p:cNvPr descr="output/sorting_adversarial.png" id="0" name="Picture 1"/>
          <p:cNvPicPr>
            <a:picLocks noGrp="1" noChangeAspect="1"/>
          </p:cNvPicPr>
          <p:nvPr/>
        </p:nvPicPr>
        <p:blipFill>
          <a:blip r:embed="rId2"/>
          <a:stretch>
            <a:fillRect/>
          </a:stretch>
        </p:blipFill>
        <p:spPr bwMode="auto">
          <a:xfrm>
            <a:off x="3568700" y="1092200"/>
            <a:ext cx="5105400" cy="2082800"/>
          </a:xfrm>
          <a:prstGeom prst="rect">
            <a:avLst/>
          </a:prstGeom>
          <a:noFill/>
          <a:ln w="9525">
            <a:noFill/>
            <a:headEnd/>
            <a:tailEnd/>
          </a:ln>
        </p:spPr>
      </p:pic>
      <p:sp>
        <p:nvSpPr>
          <p:cNvPr id="1" name="TextBox 3"/>
          <p:cNvSpPr txBox="1"/>
          <p:nvPr>
            <p:ph idx="1"/>
          </p:nvPr>
        </p:nvSpPr>
        <p:spPr>
          <a:xfrm>
            <a:off x="3568700" y="4076700"/>
            <a:ext cx="5105400" cy="508000"/>
          </a:xfrm>
          <a:prstGeom prst="rect">
            <a:avLst/>
          </a:prstGeom>
          <a:noFill/>
        </p:spPr>
        <p:txBody>
          <a:bodyPr/>
          <a:lstStyle/>
          <a:p>
            <a:pPr lvl="0" indent="0" marL="0" algn="ctr">
              <a:buNone/>
            </a:pPr>
            <a:r>
              <a:rPr/>
              <a:t>Adversarial distribution benchmark</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Experimental method</a:t>
            </a:r>
          </a:p>
        </p:txBody>
      </p:sp>
      <p:sp>
        <p:nvSpPr>
          <p:cNvPr id="3" name="Content Placeholder 2"/>
          <p:cNvSpPr>
            <a:spLocks noGrp="1"/>
          </p:cNvSpPr>
          <p:nvPr>
            <p:ph idx="1"/>
          </p:nvPr>
        </p:nvSpPr>
        <p:spPr/>
        <p:txBody>
          <a:bodyPr/>
          <a:lstStyle/>
          <a:p>
            <a:pPr lvl="0"/>
            <a:r>
              <a:rPr/>
              <a:t>Five seeded inputs: random, sorted, reverse-sorted, nearly sorted, adversarial</a:t>
            </a:r>
          </a:p>
          <a:p>
            <a:pPr lvl="0"/>
            <a:r>
              <a:rPr/>
              <a:t>Eight algorithms through n = 5,000</a:t>
            </a:r>
          </a:p>
          <a:p>
            <a:pPr lvl="0"/>
            <a:r>
              <a:rPr/>
              <a:t>Six faster algorithms through n = 20,000</a:t>
            </a:r>
          </a:p>
          <a:p>
            <a:pPr lvl="0"/>
            <a:r>
              <a:rPr/>
              <a:t>Three timing repetitions, reported as the median</a:t>
            </a:r>
          </a:p>
          <a:p>
            <a:pPr lvl="0"/>
            <a:r>
              <a:rPr/>
              <a:t>Key comparisons counted in a separate run</a:t>
            </a:r>
          </a:p>
          <a:p>
            <a:pPr lvl="0"/>
            <a:r>
              <a:rPr/>
              <a:t>Every output checked against Python’s stable sort</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Results at n = 5,000</a:t>
            </a:r>
          </a:p>
        </p:txBody>
      </p:sp>
      <p:graphicFrame>
        <p:nvGraphicFramePr>
          <p:cNvPr id="6" name="Content Placeholder 5"/>
          <p:cNvGraphicFramePr>
            <a:graphicFrameLocks noGrp="1"/>
          </p:cNvGraphicFramePr>
          <p:nvPr>
            <p:ph idx="1"/>
          </p:nvPr>
        </p:nvGraphicFramePr>
        <p:xfrm>
          <a:off x="457200" y="1193800"/>
          <a:ext cx="8229600" cy="2514600"/>
        </p:xfrm>
        <a:graphic>
          <a:graphicData uri="http://schemas.openxmlformats.org/drawingml/2006/table">
            <a:tbl>
              <a:tblPr firstRow="1" bandRow="1">
                <a:tableStyleId>{5C22544A-7EE6-4342-B048-85BDC9FD1C3A}</a:tableStyleId>
              </a:tblPr>
              <a:tblGrid>
                <a:gridCol w="1295400"/>
                <a:gridCol w="1727200"/>
                <a:gridCol w="1727200"/>
                <a:gridCol w="1727200"/>
                <a:gridCol w="1727200"/>
              </a:tblGrid>
              <a:tr h="0">
                <a:tc>
                  <a:txBody>
                    <a:bodyPr/>
                    <a:lstStyle/>
                    <a:p>
                      <a:pPr lvl="0" indent="0" marL="0">
                        <a:buNone/>
                      </a:pPr>
                      <a:r>
                        <a:rPr/>
                        <a:t>Algorithm</a:t>
                      </a:r>
                    </a:p>
                  </a:txBody>
                  <a:tcPr/>
                </a:tc>
                <a:tc>
                  <a:txBody>
                    <a:bodyPr/>
                    <a:lstStyle/>
                    <a:p>
                      <a:pPr lvl="0" indent="0" marL="0" algn="r">
                        <a:buNone/>
                      </a:pPr>
                      <a:r>
                        <a:rPr/>
                        <a:t>Random time (ms)</a:t>
                      </a:r>
                    </a:p>
                  </a:txBody>
                  <a:tcPr/>
                </a:tc>
                <a:tc>
                  <a:txBody>
                    <a:bodyPr/>
                    <a:lstStyle/>
                    <a:p>
                      <a:pPr lvl="0" indent="0" marL="0" algn="r">
                        <a:buNone/>
                      </a:pPr>
                      <a:r>
                        <a:rPr/>
                        <a:t>Sorted time (ms)</a:t>
                      </a:r>
                    </a:p>
                  </a:txBody>
                  <a:tcPr/>
                </a:tc>
                <a:tc>
                  <a:txBody>
                    <a:bodyPr/>
                    <a:lstStyle/>
                    <a:p>
                      <a:pPr lvl="0" indent="0" marL="0" algn="r">
                        <a:buNone/>
                      </a:pPr>
                      <a:r>
                        <a:rPr/>
                        <a:t>Random comparisons</a:t>
                      </a:r>
                    </a:p>
                  </a:txBody>
                  <a:tcPr/>
                </a:tc>
                <a:tc>
                  <a:txBody>
                    <a:bodyPr/>
                    <a:lstStyle/>
                    <a:p>
                      <a:pPr lvl="0" indent="0" marL="0" algn="r">
                        <a:buNone/>
                      </a:pPr>
                      <a:r>
                        <a:rPr/>
                        <a:t>Sorted comparisons</a:t>
                      </a:r>
                    </a:p>
                  </a:txBody>
                  <a:tcPr/>
                </a:tc>
              </a:tr>
              <a:tr h="0">
                <a:tc>
                  <a:txBody>
                    <a:bodyPr/>
                    <a:lstStyle/>
                    <a:p>
                      <a:pPr lvl="0" indent="0" marL="0">
                        <a:buNone/>
                      </a:pPr>
                      <a:r>
                        <a:rPr/>
                        <a:t>Lomuto quicksort</a:t>
                      </a:r>
                    </a:p>
                  </a:txBody>
                </a:tc>
                <a:tc>
                  <a:txBody>
                    <a:bodyPr/>
                    <a:lstStyle/>
                    <a:p>
                      <a:pPr lvl="0" indent="0" marL="0" algn="r">
                        <a:buNone/>
                      </a:pPr>
                      <a:r>
                        <a:rPr/>
                        <a:t>17.29</a:t>
                      </a:r>
                    </a:p>
                  </a:txBody>
                </a:tc>
                <a:tc>
                  <a:txBody>
                    <a:bodyPr/>
                    <a:lstStyle/>
                    <a:p>
                      <a:pPr lvl="0" indent="0" marL="0" algn="r">
                        <a:buNone/>
                      </a:pPr>
                      <a:r>
                        <a:rPr/>
                        <a:t>3,551.95</a:t>
                      </a:r>
                    </a:p>
                  </a:txBody>
                </a:tc>
                <a:tc>
                  <a:txBody>
                    <a:bodyPr/>
                    <a:lstStyle/>
                    <a:p>
                      <a:pPr lvl="0" indent="0" marL="0" algn="r">
                        <a:buNone/>
                      </a:pPr>
                      <a:r>
                        <a:rPr/>
                        <a:t>68,052</a:t>
                      </a:r>
                    </a:p>
                  </a:txBody>
                </a:tc>
                <a:tc>
                  <a:txBody>
                    <a:bodyPr/>
                    <a:lstStyle/>
                    <a:p>
                      <a:pPr lvl="0" indent="0" marL="0" algn="r">
                        <a:buNone/>
                      </a:pPr>
                      <a:r>
                        <a:rPr/>
                        <a:t>12,497,500</a:t>
                      </a:r>
                    </a:p>
                  </a:txBody>
                </a:tc>
              </a:tr>
              <a:tr h="0">
                <a:tc>
                  <a:txBody>
                    <a:bodyPr/>
                    <a:lstStyle/>
                    <a:p>
                      <a:pPr lvl="0" indent="0" marL="0">
                        <a:buNone/>
                      </a:pPr>
                      <a:r>
                        <a:rPr/>
                        <a:t>Hoare quicksort</a:t>
                      </a:r>
                    </a:p>
                  </a:txBody>
                </a:tc>
                <a:tc>
                  <a:txBody>
                    <a:bodyPr/>
                    <a:lstStyle/>
                    <a:p>
                      <a:pPr lvl="0" indent="0" marL="0" algn="r">
                        <a:buNone/>
                      </a:pPr>
                      <a:r>
                        <a:rPr/>
                        <a:t>20.94</a:t>
                      </a:r>
                    </a:p>
                  </a:txBody>
                </a:tc>
                <a:tc>
                  <a:txBody>
                    <a:bodyPr/>
                    <a:lstStyle/>
                    <a:p>
                      <a:pPr lvl="0" indent="0" marL="0" algn="r">
                        <a:buNone/>
                      </a:pPr>
                      <a:r>
                        <a:rPr/>
                        <a:t>15.62</a:t>
                      </a:r>
                    </a:p>
                  </a:txBody>
                </a:tc>
                <a:tc>
                  <a:txBody>
                    <a:bodyPr/>
                    <a:lstStyle/>
                    <a:p>
                      <a:pPr lvl="0" indent="0" marL="0" algn="r">
                        <a:buNone/>
                      </a:pPr>
                      <a:r>
                        <a:rPr/>
                        <a:t>91,249</a:t>
                      </a:r>
                    </a:p>
                  </a:txBody>
                </a:tc>
                <a:tc>
                  <a:txBody>
                    <a:bodyPr/>
                    <a:lstStyle/>
                    <a:p>
                      <a:pPr lvl="0" indent="0" marL="0" algn="r">
                        <a:buNone/>
                      </a:pPr>
                      <a:r>
                        <a:rPr/>
                        <a:t>66,807</a:t>
                      </a:r>
                    </a:p>
                  </a:txBody>
                </a:tc>
              </a:tr>
              <a:tr h="0">
                <a:tc>
                  <a:txBody>
                    <a:bodyPr/>
                    <a:lstStyle/>
                    <a:p>
                      <a:pPr lvl="0" indent="0" marL="0">
                        <a:buNone/>
                      </a:pPr>
                      <a:r>
                        <a:rPr/>
                        <a:t>Median-of-medians</a:t>
                      </a:r>
                    </a:p>
                  </a:txBody>
                </a:tc>
                <a:tc>
                  <a:txBody>
                    <a:bodyPr/>
                    <a:lstStyle/>
                    <a:p>
                      <a:pPr lvl="0" indent="0" marL="0" algn="r">
                        <a:buNone/>
                      </a:pPr>
                      <a:r>
                        <a:rPr/>
                        <a:t>160.94</a:t>
                      </a:r>
                    </a:p>
                  </a:txBody>
                </a:tc>
                <a:tc>
                  <a:txBody>
                    <a:bodyPr/>
                    <a:lstStyle/>
                    <a:p>
                      <a:pPr lvl="0" indent="0" marL="0" algn="r">
                        <a:buNone/>
                      </a:pPr>
                      <a:r>
                        <a:rPr/>
                        <a:t>148.51</a:t>
                      </a:r>
                    </a:p>
                  </a:txBody>
                </a:tc>
                <a:tc>
                  <a:txBody>
                    <a:bodyPr/>
                    <a:lstStyle/>
                    <a:p>
                      <a:pPr lvl="0" indent="0" marL="0" algn="r">
                        <a:buNone/>
                      </a:pPr>
                      <a:r>
                        <a:rPr/>
                        <a:t>468,619</a:t>
                      </a:r>
                    </a:p>
                  </a:txBody>
                </a:tc>
                <a:tc>
                  <a:txBody>
                    <a:bodyPr/>
                    <a:lstStyle/>
                    <a:p>
                      <a:pPr lvl="0" indent="0" marL="0" algn="r">
                        <a:buNone/>
                      </a:pPr>
                      <a:r>
                        <a:rPr/>
                        <a:t>457,665</a:t>
                      </a:r>
                    </a:p>
                  </a:txBody>
                </a:tc>
              </a:tr>
              <a:tr h="0">
                <a:tc>
                  <a:txBody>
                    <a:bodyPr/>
                    <a:lstStyle/>
                    <a:p>
                      <a:pPr lvl="0" indent="0" marL="0">
                        <a:buNone/>
                      </a:pPr>
                      <a:r>
                        <a:rPr/>
                        <a:t>Built-in Timsort</a:t>
                      </a:r>
                    </a:p>
                  </a:txBody>
                </a:tc>
                <a:tc>
                  <a:txBody>
                    <a:bodyPr/>
                    <a:lstStyle/>
                    <a:p>
                      <a:pPr lvl="0" indent="0" marL="0" algn="r">
                        <a:buNone/>
                      </a:pPr>
                      <a:r>
                        <a:rPr/>
                        <a:t>2.55</a:t>
                      </a:r>
                    </a:p>
                  </a:txBody>
                </a:tc>
                <a:tc>
                  <a:txBody>
                    <a:bodyPr/>
                    <a:lstStyle/>
                    <a:p>
                      <a:pPr lvl="0" indent="0" marL="0" algn="r">
                        <a:buNone/>
                      </a:pPr>
                      <a:r>
                        <a:rPr/>
                        <a:t>1.95</a:t>
                      </a:r>
                    </a:p>
                  </a:txBody>
                </a:tc>
                <a:tc>
                  <a:txBody>
                    <a:bodyPr/>
                    <a:lstStyle/>
                    <a:p>
                      <a:pPr lvl="0" indent="0" marL="0" algn="r">
                        <a:buNone/>
                      </a:pPr>
                      <a:r>
                        <a:rPr/>
                        <a:t>54,928</a:t>
                      </a:r>
                    </a:p>
                  </a:txBody>
                </a:tc>
                <a:tc>
                  <a:txBody>
                    <a:bodyPr/>
                    <a:lstStyle/>
                    <a:p>
                      <a:pPr lvl="0" indent="0" marL="0" algn="r">
                        <a:buNone/>
                      </a:pPr>
                      <a:r>
                        <a:rPr/>
                        <a:t>4,999</a:t>
                      </a:r>
                    </a:p>
                  </a:txBody>
                </a:tc>
              </a:tr>
              <a:tr h="0">
                <a:tc>
                  <a:txBody>
                    <a:bodyPr/>
                    <a:lstStyle/>
                    <a:p>
                      <a:pPr lvl="0" indent="0" marL="0">
                        <a:buNone/>
                      </a:pPr>
                      <a:r>
                        <a:rPr/>
                        <a:t>Educational Timsort-style</a:t>
                      </a:r>
                    </a:p>
                  </a:txBody>
                </a:tc>
                <a:tc>
                  <a:txBody>
                    <a:bodyPr/>
                    <a:lstStyle/>
                    <a:p>
                      <a:pPr lvl="0" indent="0" marL="0" algn="r">
                        <a:buNone/>
                      </a:pPr>
                      <a:r>
                        <a:rPr/>
                        <a:t>25.10</a:t>
                      </a:r>
                    </a:p>
                  </a:txBody>
                </a:tc>
                <a:tc>
                  <a:txBody>
                    <a:bodyPr/>
                    <a:lstStyle/>
                    <a:p>
                      <a:pPr lvl="0" indent="0" marL="0" algn="r">
                        <a:buNone/>
                      </a:pPr>
                      <a:r>
                        <a:rPr/>
                        <a:t>1.96</a:t>
                      </a:r>
                    </a:p>
                  </a:txBody>
                </a:tc>
                <a:tc>
                  <a:txBody>
                    <a:bodyPr/>
                    <a:lstStyle/>
                    <a:p>
                      <a:pPr lvl="0" indent="0" marL="0" algn="r">
                        <a:buNone/>
                      </a:pPr>
                      <a:r>
                        <a:rPr/>
                        <a:t>56,642</a:t>
                      </a:r>
                    </a:p>
                  </a:txBody>
                </a:tc>
                <a:tc>
                  <a:txBody>
                    <a:bodyPr/>
                    <a:lstStyle/>
                    <a:p>
                      <a:pPr lvl="0" indent="0" marL="0" algn="r">
                        <a:buNone/>
                      </a:pPr>
                      <a:r>
                        <a:rPr/>
                        <a:t>5,000</a:t>
                      </a:r>
                    </a:p>
                  </a:txBody>
                </a:tc>
              </a:tr>
              <a:tr h="0">
                <a:tc>
                  <a:txBody>
                    <a:bodyPr/>
                    <a:lstStyle/>
                    <a:p>
                      <a:pPr lvl="0" indent="0" marL="0">
                        <a:buNone/>
                      </a:pPr>
                      <a:r>
                        <a:rPr/>
                        <a:t>Hybrid</a:t>
                      </a:r>
                    </a:p>
                  </a:txBody>
                </a:tc>
                <a:tc>
                  <a:txBody>
                    <a:bodyPr/>
                    <a:lstStyle/>
                    <a:p>
                      <a:pPr lvl="0" indent="0" marL="0" algn="r">
                        <a:buNone/>
                      </a:pPr>
                      <a:r>
                        <a:rPr/>
                        <a:t>23.64</a:t>
                      </a:r>
                    </a:p>
                  </a:txBody>
                </a:tc>
                <a:tc>
                  <a:txBody>
                    <a:bodyPr/>
                    <a:lstStyle/>
                    <a:p>
                      <a:pPr lvl="0" indent="0" marL="0" algn="r">
                        <a:buNone/>
                      </a:pPr>
                      <a:r>
                        <a:rPr/>
                        <a:t>1.82</a:t>
                      </a:r>
                    </a:p>
                  </a:txBody>
                </a:tc>
                <a:tc>
                  <a:txBody>
                    <a:bodyPr/>
                    <a:lstStyle/>
                    <a:p>
                      <a:pPr lvl="0" indent="0" marL="0" algn="r">
                        <a:buNone/>
                      </a:pPr>
                      <a:r>
                        <a:rPr/>
                        <a:t>83,311</a:t>
                      </a:r>
                    </a:p>
                  </a:txBody>
                </a:tc>
                <a:tc>
                  <a:txBody>
                    <a:bodyPr/>
                    <a:lstStyle/>
                    <a:p>
                      <a:pPr lvl="0" indent="0" marL="0" algn="r">
                        <a:buNone/>
                      </a:pPr>
                      <a:r>
                        <a:rPr/>
                        <a:t>5,000</a:t>
                      </a:r>
                    </a:p>
                  </a:txBody>
                </a:tc>
              </a:tr>
            </a:tbl>
          </a:graphicData>
        </a:graphic>
      </p:graphicFrame>
      <p:sp>
        <p:nvSpPr>
          <p:cNvPr id="3" name="Content Placeholder 2"/>
          <p:cNvSpPr>
            <a:spLocks noGrp="1"/>
          </p:cNvSpPr>
          <p:nvPr>
            <p:ph idx="1"/>
          </p:nvPr>
        </p:nvSpPr>
        <p:spPr>
          <a:xfrm>
            <a:off x="457200" y="3835400"/>
            <a:ext cx="8229600" cy="622300"/>
          </a:xfrm>
        </p:spPr>
        <p:txBody>
          <a:bodyPr/>
          <a:lstStyle/>
          <a:p>
            <a:pPr lvl="0" indent="0" marL="0">
              <a:buNone/>
            </a:pPr>
            <a:r>
              <a:rPr/>
              <a:t>The Lomuto count matches n(n−1)/2 exactly on sorted input. Built-in Timsort is fast because its sort is implemented in optimized C.</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Partial presortedness</a:t>
            </a:r>
          </a:p>
        </p:txBody>
      </p:sp>
      <p:sp>
        <p:nvSpPr>
          <p:cNvPr id="4" name="Text Placeholder 3"/>
          <p:cNvSpPr>
            <a:spLocks noGrp="1"/>
          </p:cNvSpPr>
          <p:nvPr>
            <p:ph type="body" sz="half" idx="2"/>
          </p:nvPr>
        </p:nvSpPr>
        <p:spPr/>
        <p:txBody>
          <a:bodyPr/>
          <a:lstStyle/>
          <a:p>
            <a:pPr lvl="0" indent="0" marL="0">
              <a:buNone/>
            </a:pPr>
            <a:r>
              <a:rPr/>
              <a:t>Timsort and the hybrid detect natural runs and reduce work when the input is ordered. The educational version uses simple minrun and merge rules, so nearly sorted data costs more comparisons than the built-in implementation.</a:t>
            </a:r>
          </a:p>
        </p:txBody>
      </p:sp>
      <p:pic>
        <p:nvPicPr>
          <p:cNvPr descr="output/sorting_nearly_sorted.png" id="0" name="Picture 1"/>
          <p:cNvPicPr>
            <a:picLocks noGrp="1" noChangeAspect="1"/>
          </p:cNvPicPr>
          <p:nvPr/>
        </p:nvPicPr>
        <p:blipFill>
          <a:blip r:embed="rId2"/>
          <a:stretch>
            <a:fillRect/>
          </a:stretch>
        </p:blipFill>
        <p:spPr bwMode="auto">
          <a:xfrm>
            <a:off x="3568700" y="1092200"/>
            <a:ext cx="5105400" cy="2082800"/>
          </a:xfrm>
          <a:prstGeom prst="rect">
            <a:avLst/>
          </a:prstGeom>
          <a:noFill/>
          <a:ln w="9525">
            <a:noFill/>
            <a:headEnd/>
            <a:tailEnd/>
          </a:ln>
        </p:spPr>
      </p:pic>
      <p:sp>
        <p:nvSpPr>
          <p:cNvPr id="1" name="TextBox 3"/>
          <p:cNvSpPr txBox="1"/>
          <p:nvPr>
            <p:ph idx="1"/>
          </p:nvPr>
        </p:nvSpPr>
        <p:spPr>
          <a:xfrm>
            <a:off x="3568700" y="4076700"/>
            <a:ext cx="5105400" cy="508000"/>
          </a:xfrm>
          <a:prstGeom prst="rect">
            <a:avLst/>
          </a:prstGeom>
          <a:noFill/>
        </p:spPr>
        <p:txBody>
          <a:bodyPr/>
          <a:lstStyle/>
          <a:p>
            <a:pPr lvl="0" indent="0" marL="0" algn="ctr">
              <a:buNone/>
            </a:pPr>
            <a:r>
              <a:rPr/>
              <a:t>Nearly sorted distribution benchmark</a:t>
            </a:r>
          </a:p>
        </p:txBody>
      </p:sp>
      <p:sp>
        <p:nvSpPr>
          <p:cNvPr id="3" name="Content Placeholder 2"/>
          <p:cNvSpPr>
            <a:spLocks noGrp="1"/>
          </p:cNvSpPr>
          <p:nvPr>
            <p:ph idx="1"/>
          </p:nvPr>
        </p:nvSpPr>
        <p:spPr/>
        <p:txBody>
          <a:bodyPr/>
          <a:lstStyle/>
          <a:p>
            <a:pPr lvl="0" indent="0" marL="0">
              <a:buNone/>
            </a:pPr>
            <a:r>
              <a:rPr/>
              <a:t>At n = 20,000, built-in Timsort used 46,984 comparisons on nearly sorted data. The educational version used 185,276 and the hybrid used 183,812.</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External sorting for 100 million records</a:t>
            </a:r>
          </a:p>
        </p:txBody>
      </p:sp>
      <p:sp>
        <p:nvSpPr>
          <p:cNvPr id="3" name="Content Placeholder 2"/>
          <p:cNvSpPr>
            <a:spLocks noGrp="1"/>
          </p:cNvSpPr>
          <p:nvPr>
            <p:ph idx="1"/>
          </p:nvPr>
        </p:nvSpPr>
        <p:spPr/>
        <p:txBody>
          <a:bodyPr/>
          <a:lstStyle/>
          <a:p>
            <a:pPr lvl="0"/>
            <a:r>
              <a:rPr/>
              <a:t>64 serialized bytes per record gives about 6.4 GB on disk.</a:t>
            </a:r>
          </a:p>
          <a:p>
            <a:pPr lvl="0"/>
            <a:r>
              <a:rPr/>
              <a:t>Sort chunks under a 128 MiB estimated Python-object budget.</a:t>
            </a:r>
          </a:p>
          <a:p>
            <a:pPr lvl="0"/>
            <a:r>
              <a:rPr/>
              <a:t>About 268,000 records per chunk at an estimated 500 bytes per row.</a:t>
            </a:r>
          </a:p>
          <a:p>
            <a:pPr lvl="0"/>
            <a:r>
              <a:rPr/>
              <a:t>Roughly 374 sorted runs, merged with fan-in 32.</a:t>
            </a:r>
          </a:p>
          <a:p>
            <a:pPr lvl="0"/>
            <a:r>
              <a:rPr/>
              <a:t>Run generation plus two merge levels gives about 6N/B block transfers.</a:t>
            </a:r>
          </a:p>
          <a:p>
            <a:pPr lvl="0"/>
            <a:r>
              <a:rPr/>
              <a:t>Estimated sequential read/write traffic: about 38.4 GB.</a:t>
            </a:r>
          </a:p>
          <a:p>
            <a:pPr lvl="0" indent="0" marL="0">
              <a:buNone/>
            </a:pPr>
            <a:r>
              <a:rPr/>
              <a:t>The byte budget estimates memory. Peak process memory still needs measurement on representative records to validate the 512 MB ceiling.</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Recommendation</a:t>
            </a:r>
          </a:p>
        </p:txBody>
      </p:sp>
      <p:sp>
        <p:nvSpPr>
          <p:cNvPr id="3" name="Content Placeholder 2"/>
          <p:cNvSpPr>
            <a:spLocks noGrp="1"/>
          </p:cNvSpPr>
          <p:nvPr>
            <p:ph idx="1"/>
          </p:nvPr>
        </p:nvSpPr>
        <p:spPr/>
        <p:txBody>
          <a:bodyPr/>
          <a:lstStyle/>
          <a:p>
            <a:pPr lvl="0"/>
            <a:r>
              <a:rPr/>
              <a:t>Use external merge sort when the full batch exceeds RAM.</a:t>
            </a:r>
          </a:p>
          <a:p>
            <a:pPr lvl="0"/>
            <a:r>
              <a:rPr/>
              <a:t>Use Timsort for stable in-memory Python sorting.</a:t>
            </a:r>
          </a:p>
          <a:p>
            <a:pPr lvl="0"/>
            <a:r>
              <a:rPr/>
              <a:t>Use the hybrid when custom control and adaptivity are needed.</a:t>
            </a:r>
          </a:p>
          <a:p>
            <a:pPr lvl="0"/>
            <a:r>
              <a:rPr/>
              <a:t>Avoid endpoint-pivot quicksort on untrusted or partly sorted feeds.</a:t>
            </a:r>
          </a:p>
          <a:p>
            <a:pPr lvl="0"/>
            <a:r>
              <a:rPr/>
              <a:t>Measure peak RSS and timing on representative production records.</a:t>
            </a:r>
          </a:p>
          <a:p>
            <a:pPr lvl="0" indent="0" marL="0">
              <a:buNone/>
            </a:pPr>
            <a:r>
              <a:rPr b="1"/>
              <a:t>Takeaway:</a:t>
            </a:r>
            <a:r>
              <a:rPr/>
              <a:t> asymptotic bounds identify the risks; measured constants, stability, input structure, and memory determine the production choice.</a:t>
            </a:r>
          </a:p>
          <a:p>
            <a:pPr lvl="0" indent="0" marL="0">
              <a:buNone/>
            </a:pPr>
            <a:r>
              <a:rPr b="1"/>
              <a:t>References:</a:t>
            </a:r>
            <a:r>
              <a:rPr/>
              <a:t> Cormen et al. (2022); Musser (1997); Blum et al. (1973); Aggarwal and Vitter (1988).</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 2: Sorting Under Real-World Constraints</dc:title>
  <dc:creator>Nigel Tavaguta (R236699C)</dc:creator>
  <cp:keywords/>
  <dcterms:created xsi:type="dcterms:W3CDTF">2026-10-23T20:50:37Z</dcterms:created>
  <dcterms:modified xsi:type="dcterms:W3CDTF">2026-10-23T20:50:37Z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Design and Analysis of Algorithms</vt:lpwstr>
  </property>
</Properties>
</file>